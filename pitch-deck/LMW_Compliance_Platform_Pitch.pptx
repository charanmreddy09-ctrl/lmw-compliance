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COMPLIANCE MANAGEMENT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LMW Compliance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compliance the Board can rely on — because every entry is backed by the document that proves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47804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live today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0" y="470916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123" y="478048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114800" y="5852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obligations tracked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80960" y="470916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283" y="478048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096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7680960" y="5852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not self-declared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today runs on trust, not 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20313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385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2585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and filings live in spreadsheets across every country office.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08290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900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Self-declared status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3101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confirmed by a representation letter, not by evidence.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13446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41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3616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is questioned, there's no record of who reviewed what.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518602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0932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wrong dates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80160" y="54132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outdated due date can mean a real financial penalty.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503920" y="2103120"/>
            <a:ext cx="2926080" cy="2926080"/>
          </a:xfrm>
          <a:prstGeom prst="ellipse">
            <a:avLst/>
          </a:prstGeom>
          <a:solidFill>
            <a:srgbClr val="F4F3F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3" y="2571293"/>
            <a:ext cx="1989734" cy="19897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0" y="5166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of record for every statutory obligation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the representation letter. Instead of asking each country to confirm it complied, the platform holds the filing, the evidence and the reviewer’s decision — and derives a live score from that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F4F3F2"/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3200400"/>
            <a:ext cx="594360" cy="59436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171" y="327766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77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452628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in scope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 Limited (India) and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 Global FZE (UAE)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01568" y="288036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F4F3F2"/>
          </a:solidFill>
          <a:ln/>
        </p:spPr>
      </p:sp>
      <p:sp>
        <p:nvSpPr>
          <p:cNvPr id="11" name="Shape 8"/>
          <p:cNvSpPr/>
          <p:nvPr/>
        </p:nvSpPr>
        <p:spPr>
          <a:xfrm>
            <a:off x="4370832" y="3200400"/>
            <a:ext cx="594360" cy="59436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099" y="327766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977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38728" y="452628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obligations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plus state / free-zone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— starting baseline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288036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F4F3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223760" y="3200400"/>
            <a:ext cx="594360" cy="59436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027" y="327766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3977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filing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91656" y="452628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held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checksummed,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07424" y="288036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F4F3F2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76688" y="3200400"/>
            <a:ext cx="594360" cy="59436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955" y="3277667"/>
            <a:ext cx="439826" cy="439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4584" y="39776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only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244584" y="452628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basis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Self-declaration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count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obligation to score — with an audit trail at every step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7484" y="214884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4F3F2"/>
          </a:solidFill>
          <a:ln/>
        </p:spPr>
      </p:sp>
      <p:sp>
        <p:nvSpPr>
          <p:cNvPr id="5" name="Text 3"/>
          <p:cNvSpPr/>
          <p:nvPr/>
        </p:nvSpPr>
        <p:spPr>
          <a:xfrm>
            <a:off x="1034644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14704" y="2743200"/>
            <a:ext cx="640080" cy="64008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914" y="282641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7212" y="356616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raised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4644" y="42062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and the entity’s registered jurisdictions decide what applies.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72004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028036" y="214884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4F3F2"/>
          </a:solidFill>
          <a:ln/>
        </p:spPr>
      </p:sp>
      <p:sp>
        <p:nvSpPr>
          <p:cNvPr id="12" name="Text 9"/>
          <p:cNvSpPr/>
          <p:nvPr/>
        </p:nvSpPr>
        <p:spPr>
          <a:xfrm>
            <a:off x="3165196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45256" y="2743200"/>
            <a:ext cx="640080" cy="64008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66" y="282641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37764" y="356616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with evidence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165196" y="42062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preparer uploads the filing and its supporting document.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902556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158588" y="214884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4F3F2"/>
          </a:solidFill>
          <a:ln/>
        </p:spPr>
      </p:sp>
      <p:sp>
        <p:nvSpPr>
          <p:cNvPr id="19" name="Text 15"/>
          <p:cNvSpPr/>
          <p:nvPr/>
        </p:nvSpPr>
        <p:spPr>
          <a:xfrm>
            <a:off x="5295748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18" y="2826410"/>
            <a:ext cx="473659" cy="47365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68316" y="356616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automatically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95748" y="42062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Period, filing date, delay, penalty and duplicates are checked first.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033108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289140" y="214884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4F3F2"/>
          </a:solidFill>
          <a:ln/>
        </p:spPr>
      </p:sp>
      <p:sp>
        <p:nvSpPr>
          <p:cNvPr id="26" name="Text 21"/>
          <p:cNvSpPr/>
          <p:nvPr/>
        </p:nvSpPr>
        <p:spPr>
          <a:xfrm>
            <a:off x="7426300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906360" y="2743200"/>
            <a:ext cx="640080" cy="64008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570" y="2826410"/>
            <a:ext cx="473659" cy="47365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98868" y="356616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426300" y="42062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in the reviewer’s queue — approve, reject or query.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163660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9419692" y="2148840"/>
            <a:ext cx="1874520" cy="3566160"/>
          </a:xfrm>
          <a:prstGeom prst="roundRect">
            <a:avLst>
              <a:gd name="adj" fmla="val 3902"/>
            </a:avLst>
          </a:prstGeom>
          <a:solidFill>
            <a:srgbClr val="F3E3E4"/>
          </a:solidFill>
          <a:ln/>
        </p:spPr>
      </p:sp>
      <p:sp>
        <p:nvSpPr>
          <p:cNvPr id="33" name="Text 27"/>
          <p:cNvSpPr/>
          <p:nvPr/>
        </p:nvSpPr>
        <p:spPr>
          <a:xfrm>
            <a:off x="9556852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0036912" y="2743200"/>
            <a:ext cx="640080" cy="64008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0122" y="2826410"/>
            <a:ext cx="473659" cy="47365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29420" y="356616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556852" y="42062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approved, evidence-backed obligations lift the score.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cannot be self-declared — it is derived, every time, from this record.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due date traces back to an official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4F3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Department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incometaxindia.gov.in — Direct Tax, including the new Income-tax Act, 2025 renumbering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52544" y="187452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4F3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210312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524" y="21685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20574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Portal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81144" y="26517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gst.gov.in — GSTR-1, GSTR-3B, GSTR-9 / 9C filing calendar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56448" y="187452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4F3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5048" y="210312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428" y="21685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25128" y="20574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/ ROC Calendar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85048" y="26517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Corporate Affairs — AOC-4, MGT-7, DIR-3 KYC and more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4F3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40887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7764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 of India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57200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filings — FLA return, Overseas Direct Investment reporting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52544" y="379476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F4F3F2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023360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524" y="40887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397764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/ LODR Calendar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81144" y="457200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regulations — quarterly results, shareholding, governance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56448" y="3794760"/>
            <a:ext cx="3483864" cy="1600200"/>
          </a:xfrm>
          <a:prstGeom prst="roundRect">
            <a:avLst>
              <a:gd name="adj" fmla="val 4571"/>
            </a:avLst>
          </a:prstGeom>
          <a:solidFill>
            <a:srgbClr val="8E1B2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5048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428" y="40887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25128" y="397764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sync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85048" y="457200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re-checks sources and flags any change — an admin approves before anything updates.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modules. Nothing that is not used.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5" name="Shape 3"/>
          <p:cNvSpPr/>
          <p:nvPr/>
        </p:nvSpPr>
        <p:spPr>
          <a:xfrm>
            <a:off x="1580769" y="207568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149" y="2141068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04495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country and category score in one filterable view.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90138" y="187452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22267" y="207568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647" y="2141068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7298" y="274320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7298" y="304495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entity with its own scorecard and obligation register.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31636" y="187452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3765" y="207568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145" y="214106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8796" y="274320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Library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68796" y="304495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master list — editable, importable from Excel.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9073134" y="187452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05263" y="207568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643" y="2141068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0294" y="274320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Calendar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210294" y="304495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Day, 15-day and month views of what falls due.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25" name="Shape 19"/>
          <p:cNvSpPr/>
          <p:nvPr/>
        </p:nvSpPr>
        <p:spPr>
          <a:xfrm>
            <a:off x="1580769" y="417880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149" y="4244188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84632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800" y="514807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query or reassign every filing.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390138" y="39776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30" name="Shape 23"/>
          <p:cNvSpPr/>
          <p:nvPr/>
        </p:nvSpPr>
        <p:spPr>
          <a:xfrm>
            <a:off x="4422267" y="417880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647" y="4244188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7298" y="484632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7298" y="514807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entity and reviewer reports, exportable to Excel.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231636" y="3977640"/>
            <a:ext cx="2567178" cy="1783080"/>
          </a:xfrm>
          <a:prstGeom prst="roundRect">
            <a:avLst>
              <a:gd name="adj" fmla="val 4103"/>
            </a:avLst>
          </a:prstGeom>
          <a:solidFill>
            <a:srgbClr val="F4F3F2"/>
          </a:solidFill>
          <a:ln/>
        </p:spPr>
      </p:sp>
      <p:sp>
        <p:nvSpPr>
          <p:cNvPr id="35" name="Shape 27"/>
          <p:cNvSpPr/>
          <p:nvPr/>
        </p:nvSpPr>
        <p:spPr>
          <a:xfrm>
            <a:off x="7263765" y="4178808"/>
            <a:ext cx="502920" cy="50292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145" y="4244188"/>
            <a:ext cx="372161" cy="37216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8796" y="4846320"/>
            <a:ext cx="2292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68796" y="5148072"/>
            <a:ext cx="2292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roles, delegation and the full audit trail.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Replaces the representation letter with proof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4F3F2"/>
          </a:solidFill>
          <a:ln/>
        </p:spPr>
      </p:sp>
      <p:sp>
        <p:nvSpPr>
          <p:cNvPr id="5" name="Shape 3"/>
          <p:cNvSpPr/>
          <p:nvPr/>
        </p:nvSpPr>
        <p:spPr>
          <a:xfrm>
            <a:off x="6522415" y="187452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201C1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42455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6426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Self-declared compliance status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5112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behind the number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3799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spreadsheet-based date tracking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0352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5248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dates entered and re-entered by hand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455" y="269748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99655" y="26426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required before anything counts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455" y="356616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99655" y="35112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every decision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455" y="443484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299655" y="43799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checked against official sources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2455" y="530352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99655" y="5248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date read automatically from the document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EXTENSIBLE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C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 across two countries — built for any number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or free-zone obligation applies to an entity only where it is actually registered. Add further countries, states or entities at any time — no code change required.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3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corporate law, tax, GST, SEBI / LODR and FEMA, plus Tamil Nadu professional tax, labour welfare, factory licence, boiler certificate and pollution control.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26060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3F2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Arab Emirates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3703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VAT, Corporate Tax, Economic Substance and UBO filings, plus Dubai free-zone trade licence, immigration and financial statement filings.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553212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live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84320" y="493776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084320" y="553212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tracked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0000" y="493776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620000" y="553212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to add one more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the number can’t be gamed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2C272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3116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2199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624328"/>
            <a:ext cx="4037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obligation, per entity, per period — not a spreadsheet per country.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3076" y="196596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2C2725"/>
          </a:solidFill>
          <a:ln/>
        </p:spPr>
      </p:sp>
      <p:sp>
        <p:nvSpPr>
          <p:cNvPr id="10" name="Shape 7"/>
          <p:cNvSpPr/>
          <p:nvPr/>
        </p:nvSpPr>
        <p:spPr>
          <a:xfrm>
            <a:off x="6597396" y="224028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231160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222199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counts without evidence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28916" y="2624328"/>
            <a:ext cx="4037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plus a document is the only way an obligation lifts the score.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2C2725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50616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41655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current, always reviewed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818888"/>
            <a:ext cx="4037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are checked against official sources — changes wait for sign-off.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23076" y="4160520"/>
            <a:ext cx="5317236" cy="1737360"/>
          </a:xfrm>
          <a:prstGeom prst="roundRect">
            <a:avLst>
              <a:gd name="adj" fmla="val 4211"/>
            </a:avLst>
          </a:prstGeom>
          <a:solidFill>
            <a:srgbClr val="2C272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97396" y="4434840"/>
            <a:ext cx="548640" cy="54864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450616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41655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structure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28916" y="4818888"/>
            <a:ext cx="4037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 your actual entities and jurisdictions, not a generic template.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188720"/>
            <a:ext cx="914400" cy="914400"/>
          </a:xfrm>
          <a:prstGeom prst="ellipse">
            <a:avLst/>
          </a:prstGeom>
          <a:solidFill>
            <a:srgbClr val="8E1B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13075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4688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Board a number it can trust.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920240" y="3474720"/>
            <a:ext cx="8351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9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pilot the platform on your highest-risk entity first — live in weeks, not quarters.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 Compliance Management Platform  ·  Version 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2026-08-05T10:10:15Z</dcterms:created>
  <dcterms:modified xsi:type="dcterms:W3CDTF">2026-08-05T10:10:15Z</dcterms:modified>
</cp:coreProperties>
</file>